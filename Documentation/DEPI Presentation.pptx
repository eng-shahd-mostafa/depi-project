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4" r:id="rId10"/>
    <p:sldId id="271" r:id="rId11"/>
    <p:sldId id="266" r:id="rId12"/>
    <p:sldId id="272" r:id="rId13"/>
    <p:sldId id="265" r:id="rId14"/>
    <p:sldId id="273" r:id="rId15"/>
    <p:sldId id="269" r:id="rId16"/>
    <p:sldId id="270" r:id="rId17"/>
  </p:sldIdLst>
  <p:sldSz cx="12192000" cy="6858000"/>
  <p:notesSz cx="6858000" cy="9144000"/>
  <p:embeddedFontLst>
    <p:embeddedFont>
      <p:font typeface="Aharoni" panose="02010803020104030203" pitchFamily="2" charset="-79"/>
      <p:bold r:id="rId19"/>
    </p:embeddedFont>
    <p:embeddedFont>
      <p:font typeface="Arial Rounded MT Bold" panose="020F0704030504030204" pitchFamily="3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5E7"/>
    <a:srgbClr val="F5F5F5"/>
    <a:srgbClr val="C5E0B4"/>
    <a:srgbClr val="057954"/>
    <a:srgbClr val="D8B01A"/>
    <a:srgbClr val="DFBE43"/>
    <a:srgbClr val="E1C24F"/>
    <a:srgbClr val="B6AF2A"/>
    <a:srgbClr val="0FAB7C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7883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901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857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569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786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952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178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11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719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855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928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9610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5130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3457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6166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2443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47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54738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753848"/>
            <a:ext cx="10382435" cy="416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1: Cover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Slide3: Project Wireframe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user journey (from onboarding to core features) |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7/09/26</a:t>
            </a:r>
            <a:endParaRPr dirty="0"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Data flow (how data is collected, stored, and accessed).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1E5390B-B48C-13AC-3A51-0E29BA8D346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sz="18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4158FA-5A66-DD71-FB0E-0599E12140E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10: Thank You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lang="en-US" sz="22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r="37210"/>
          <a:stretch/>
        </p:blipFill>
        <p:spPr>
          <a:xfrm>
            <a:off x="3581401" y="833618"/>
            <a:ext cx="3259238" cy="51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for DEPI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Feel free To use it  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3780D9-C96C-A177-A872-B92ACFDD129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85744" y="1806702"/>
            <a:ext cx="5620512" cy="998411"/>
          </a:xfrm>
        </p:spPr>
        <p:txBody>
          <a:bodyPr/>
          <a:lstStyle/>
          <a:p>
            <a:r>
              <a:rPr lang="en-US" b="1" dirty="0">
                <a:solidFill>
                  <a:srgbClr val="057954"/>
                </a:solidFill>
                <a:latin typeface="Arial Rounded MT Bold" panose="020F0704030504030204" pitchFamily="34" charset="0"/>
              </a:rPr>
              <a:t>SafeGuard Ag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19754" y="2629207"/>
            <a:ext cx="6752492" cy="48364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336EA8"/>
                </a:solidFill>
              </a:rPr>
              <a:t>AI-Powered Crop Yield Prediction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80338" y="3745151"/>
            <a:ext cx="5543887" cy="703384"/>
            <a:chOff x="4172198" y="3724954"/>
            <a:chExt cx="5543887" cy="703384"/>
          </a:xfrm>
        </p:grpSpPr>
        <p:grpSp>
          <p:nvGrpSpPr>
            <p:cNvPr id="11" name="Group 10"/>
            <p:cNvGrpSpPr/>
            <p:nvPr/>
          </p:nvGrpSpPr>
          <p:grpSpPr>
            <a:xfrm>
              <a:off x="4172198" y="3724954"/>
              <a:ext cx="2932664" cy="703384"/>
              <a:chOff x="2954215" y="4484929"/>
              <a:chExt cx="3141785" cy="703384"/>
            </a:xfrm>
            <a:noFill/>
          </p:grpSpPr>
          <p:sp>
            <p:nvSpPr>
              <p:cNvPr id="15" name="Rectangle 14"/>
              <p:cNvSpPr/>
              <p:nvPr/>
            </p:nvSpPr>
            <p:spPr>
              <a:xfrm>
                <a:off x="2954215" y="4484929"/>
                <a:ext cx="3141785" cy="703384"/>
              </a:xfrm>
              <a:prstGeom prst="rect">
                <a:avLst/>
              </a:prstGeom>
              <a:grpFill/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14300"/>
                <a:r>
                  <a:rPr lang="en-US" b="1" dirty="0">
                    <a:solidFill>
                      <a:schemeClr val="tx1"/>
                    </a:solidFill>
                  </a:rPr>
                  <a:t>Shahd Mostafa</a:t>
                </a:r>
              </a:p>
              <a:p>
                <a:pPr marL="114300"/>
                <a:r>
                  <a:rPr lang="en-US" dirty="0">
                    <a:solidFill>
                      <a:schemeClr val="tx1"/>
                    </a:solidFill>
                  </a:rPr>
                  <a:t>Leader AI-Engineer</a:t>
                </a:r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954215" y="4484929"/>
                <a:ext cx="0" cy="703384"/>
              </a:xfrm>
              <a:prstGeom prst="line">
                <a:avLst/>
              </a:prstGeom>
              <a:grpFill/>
              <a:ln w="38100">
                <a:solidFill>
                  <a:srgbClr val="D8B01A"/>
                </a:solidFill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6783421" y="3724954"/>
              <a:ext cx="2932664" cy="703384"/>
              <a:chOff x="6096000" y="5474671"/>
              <a:chExt cx="3141785" cy="703384"/>
            </a:xfrm>
            <a:noFill/>
            <a:effectLst/>
          </p:grpSpPr>
          <p:sp>
            <p:nvSpPr>
              <p:cNvPr id="13" name="Rectangle 12"/>
              <p:cNvSpPr/>
              <p:nvPr/>
            </p:nvSpPr>
            <p:spPr>
              <a:xfrm>
                <a:off x="6096000" y="5474671"/>
                <a:ext cx="3141785" cy="703384"/>
              </a:xfrm>
              <a:prstGeom prst="rect">
                <a:avLst/>
              </a:prstGeom>
              <a:grpFill/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3500"/>
                <a:r>
                  <a:rPr lang="en-US" b="1" dirty="0">
                    <a:solidFill>
                      <a:schemeClr val="tx1"/>
                    </a:solidFill>
                  </a:rPr>
                  <a:t>July 2026</a:t>
                </a:r>
              </a:p>
              <a:p>
                <a:pPr marL="63500"/>
                <a:r>
                  <a:rPr lang="en-US" dirty="0">
                    <a:solidFill>
                      <a:schemeClr val="tx1"/>
                    </a:solidFill>
                  </a:rPr>
                  <a:t>Safe Guard Ag Project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6096000" y="5474671"/>
                <a:ext cx="0" cy="703384"/>
              </a:xfrm>
              <a:prstGeom prst="line">
                <a:avLst/>
              </a:prstGeom>
              <a:grpFill/>
              <a:ln w="38100">
                <a:solidFill>
                  <a:srgbClr val="D8B01A"/>
                </a:solidFill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/>
          <p:cNvCxnSpPr/>
          <p:nvPr/>
        </p:nvCxnSpPr>
        <p:spPr>
          <a:xfrm>
            <a:off x="-2076723" y="1696933"/>
            <a:ext cx="0" cy="577247"/>
          </a:xfrm>
          <a:prstGeom prst="line">
            <a:avLst/>
          </a:prstGeom>
          <a:noFill/>
          <a:ln w="3175">
            <a:solidFill>
              <a:srgbClr val="D8B01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59247" y="2773694"/>
            <a:ext cx="5057982" cy="2908226"/>
          </a:xfrm>
          <a:prstGeom prst="roundRect">
            <a:avLst>
              <a:gd name="adj" fmla="val 6141"/>
            </a:avLst>
          </a:prstGeom>
          <a:solidFill>
            <a:srgbClr val="0FAB7C"/>
          </a:solidFill>
          <a:ln>
            <a:noFill/>
          </a:ln>
          <a:effectLst>
            <a:outerShdw blurRad="25400" dist="38100" dir="5700000" algn="tl" rotWithShape="0">
              <a:srgbClr val="D8B01A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endParaRPr lang="en-US" sz="2800" b="1" dirty="0">
              <a:solidFill>
                <a:schemeClr val="bg1"/>
              </a:solidFill>
            </a:endParaRPr>
          </a:p>
          <a:p>
            <a:pPr marL="114300" lvl="1"/>
            <a:r>
              <a:rPr lang="en-US" sz="2800" b="1" dirty="0">
                <a:solidFill>
                  <a:schemeClr val="bg1"/>
                </a:solidFill>
              </a:rPr>
              <a:t>The AI Solution</a:t>
            </a:r>
          </a:p>
          <a:p>
            <a:pPr marL="114300" lvl="1"/>
            <a:endParaRPr lang="en-US" dirty="0">
              <a:solidFill>
                <a:schemeClr val="bg1"/>
              </a:solidFill>
            </a:endParaRPr>
          </a:p>
          <a:p>
            <a:pPr marL="168275" lvl="1"/>
            <a:r>
              <a:rPr lang="en-US" sz="2000" dirty="0">
                <a:solidFill>
                  <a:schemeClr val="bg1"/>
                </a:solidFill>
              </a:rPr>
              <a:t>Predicts crop yield with </a:t>
            </a:r>
            <a:r>
              <a:rPr lang="en-US" sz="2000" b="1" dirty="0">
                <a:solidFill>
                  <a:schemeClr val="bg1"/>
                </a:solidFill>
              </a:rPr>
              <a:t>94.27% accuracy</a:t>
            </a:r>
            <a:r>
              <a:rPr lang="en-US" sz="2000" dirty="0">
                <a:solidFill>
                  <a:schemeClr val="bg1"/>
                </a:solidFill>
              </a:rPr>
              <a:t>. Features unique XGBoost noise detection, real-time drift monitoring, and a user-friendly web interface for actionable insights.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989" y="2818750"/>
            <a:ext cx="5106775" cy="2800168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FAB7C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endParaRPr lang="en-US" sz="2800" b="1" dirty="0">
              <a:solidFill>
                <a:srgbClr val="336EA8"/>
              </a:solidFill>
            </a:endParaRPr>
          </a:p>
          <a:p>
            <a:pPr marL="114300" lvl="1"/>
            <a:r>
              <a:rPr lang="en-US" sz="2800" b="1" dirty="0">
                <a:solidFill>
                  <a:srgbClr val="336EA8"/>
                </a:solidFill>
              </a:rPr>
              <a:t>The Problem</a:t>
            </a:r>
          </a:p>
          <a:p>
            <a:pPr marL="114300" lvl="1"/>
            <a:endParaRPr lang="en-US" dirty="0">
              <a:solidFill>
                <a:schemeClr val="tx1"/>
              </a:solidFill>
            </a:endParaRPr>
          </a:p>
          <a:p>
            <a:pPr marL="168275"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Farmers currently rely on traditional guesswork and intuition for crop cycles. This leads to massive crop losses, resource waste, and chronic food insecurity in vulnerable regions.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838200" y="1679036"/>
            <a:ext cx="6213679" cy="598356"/>
            <a:chOff x="2937482" y="5188313"/>
            <a:chExt cx="3158518" cy="729105"/>
          </a:xfrm>
          <a:noFill/>
        </p:grpSpPr>
        <p:sp>
          <p:nvSpPr>
            <p:cNvPr id="16" name="Rectangle 15"/>
            <p:cNvSpPr/>
            <p:nvPr/>
          </p:nvSpPr>
          <p:spPr>
            <a:xfrm>
              <a:off x="2954215" y="5188313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Project Vision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2937482" y="5214035"/>
              <a:ext cx="0" cy="703383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03" y="2787459"/>
            <a:ext cx="472773" cy="4246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661" y="2752949"/>
            <a:ext cx="443430" cy="644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924050"/>
            <a:ext cx="6559550" cy="3493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1">
              <a:buSzPct val="100000"/>
            </a:pPr>
            <a:r>
              <a:rPr lang="en-US" sz="2800" b="1" dirty="0">
                <a:solidFill>
                  <a:srgbClr val="336E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Seamless Experience</a:t>
            </a:r>
            <a:b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Fill Form: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Input environmental data (Soil, Weather, etc.).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AI Model processes inputs in real-time.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View Result: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Get immediate yield prediction scores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Designed for high usability and clean data visualization across devices.</a:t>
            </a:r>
            <a:endParaRPr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16" y="2250560"/>
            <a:ext cx="3913971" cy="31665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>
            <a:off x="459835" y="1313871"/>
            <a:ext cx="6213679" cy="598356"/>
            <a:chOff x="2937482" y="5188313"/>
            <a:chExt cx="3158518" cy="729105"/>
          </a:xfrm>
          <a:noFill/>
        </p:grpSpPr>
        <p:sp>
          <p:nvSpPr>
            <p:cNvPr id="13" name="Rectangle 12"/>
            <p:cNvSpPr/>
            <p:nvPr/>
          </p:nvSpPr>
          <p:spPr>
            <a:xfrm>
              <a:off x="2954215" y="5188313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User Journey &amp; Interface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2937482" y="5214035"/>
              <a:ext cx="0" cy="703383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5156014" y="2230262"/>
            <a:ext cx="6559550" cy="3644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lvl="1"/>
            <a:r>
              <a:rPr lang="en-US" sz="2500" b="1" dirty="0">
                <a:solidFill>
                  <a:srgbClr val="336EA8"/>
                </a:solidFill>
              </a:rPr>
              <a:t>Primary User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Farmers, Agribusinesses, and Government Consultants focused on food security.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500" b="1" dirty="0">
                <a:solidFill>
                  <a:srgbClr val="336EA8"/>
                </a:solidFill>
              </a:rPr>
              <a:t>Live Monitoring</a:t>
            </a:r>
            <a:br>
              <a:rPr lang="en-US" sz="1400" b="1" dirty="0">
                <a:solidFill>
                  <a:srgbClr val="0070C0"/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Performance tracking and drift detection to maintain model reliability over time.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500" b="1" dirty="0">
                <a:solidFill>
                  <a:srgbClr val="336EA8"/>
                </a:solidFill>
              </a:rPr>
              <a:t>Web Interface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User-friendly Flask-based dashboard for instant result visualization and input forms.</a:t>
            </a:r>
            <a:endParaRPr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7145"/>
            <a:ext cx="3706906" cy="320096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/>
          <p:cNvGrpSpPr/>
          <p:nvPr/>
        </p:nvGrpSpPr>
        <p:grpSpPr>
          <a:xfrm>
            <a:off x="584593" y="1240899"/>
            <a:ext cx="5359008" cy="805178"/>
            <a:chOff x="3100995" y="4565965"/>
            <a:chExt cx="3141785" cy="757408"/>
          </a:xfrm>
          <a:noFill/>
        </p:grpSpPr>
        <p:sp>
          <p:nvSpPr>
            <p:cNvPr id="9" name="Rectangle 8"/>
            <p:cNvSpPr/>
            <p:nvPr/>
          </p:nvSpPr>
          <p:spPr>
            <a:xfrm>
              <a:off x="3100995" y="4565965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 Ecosystem &amp; Capabilities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3174381" y="4619989"/>
              <a:ext cx="0" cy="703384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764635" y="1675821"/>
            <a:ext cx="6213679" cy="598356"/>
            <a:chOff x="2937482" y="5188313"/>
            <a:chExt cx="3158518" cy="729105"/>
          </a:xfrm>
          <a:noFill/>
        </p:grpSpPr>
        <p:sp>
          <p:nvSpPr>
            <p:cNvPr id="7" name="Rectangle 6"/>
            <p:cNvSpPr/>
            <p:nvPr/>
          </p:nvSpPr>
          <p:spPr>
            <a:xfrm>
              <a:off x="2954215" y="5188313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Stakeholders &amp; Capabilities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937482" y="5214035"/>
              <a:ext cx="0" cy="703383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3" name="Rounded Rectangle 12"/>
          <p:cNvSpPr/>
          <p:nvPr/>
        </p:nvSpPr>
        <p:spPr>
          <a:xfrm>
            <a:off x="577517" y="2819583"/>
            <a:ext cx="3556334" cy="2571567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endParaRPr lang="en-US" sz="2400" b="1" dirty="0">
              <a:solidFill>
                <a:srgbClr val="336EA8"/>
              </a:solidFill>
            </a:endParaRPr>
          </a:p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Smallholder Farmers</a:t>
            </a:r>
          </a:p>
          <a:p>
            <a:pPr marL="114300" lvl="1"/>
            <a:endParaRPr lang="en-US" sz="1500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Empowering local growers with data-driven planting decisions and yield forecasting.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6943" y="2819583"/>
            <a:ext cx="3384255" cy="2571567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endParaRPr lang="en-US" sz="2400" b="1" dirty="0">
              <a:solidFill>
                <a:srgbClr val="336EA8"/>
              </a:solidFill>
            </a:endParaRPr>
          </a:p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Key Features</a:t>
            </a:r>
          </a:p>
          <a:p>
            <a:pPr marL="114300" lvl="1"/>
            <a:endParaRPr lang="en-US" sz="1500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Real-time Yield Prediction, Performance Drift Monitoring, and Interactive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44291" y="2819583"/>
            <a:ext cx="3384255" cy="2571567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endParaRPr lang="en-US" sz="2400" b="1" dirty="0">
              <a:solidFill>
                <a:srgbClr val="336EA8"/>
              </a:solidFill>
            </a:endParaRPr>
          </a:p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Agri-Agencies</a:t>
            </a:r>
          </a:p>
          <a:p>
            <a:pPr marL="114300" lvl="1"/>
            <a:endParaRPr lang="en-US" sz="1500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Government and consultants cab use aggregated data for regional food security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D5402-F31D-4207-A90F-B39884A9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545" y="2969981"/>
            <a:ext cx="447823" cy="4590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778178-DA9B-4E26-96CB-0D3B8078B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572" y="3019425"/>
            <a:ext cx="438761" cy="4287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F19EE7-64D9-454E-ADCC-84BDAE6D5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36" y="3019425"/>
            <a:ext cx="526596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50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/>
          <p:cNvGrpSpPr/>
          <p:nvPr/>
        </p:nvGrpSpPr>
        <p:grpSpPr>
          <a:xfrm>
            <a:off x="1184752" y="1547813"/>
            <a:ext cx="4168298" cy="703384"/>
            <a:chOff x="2954215" y="4484929"/>
            <a:chExt cx="3141785" cy="703384"/>
          </a:xfrm>
          <a:noFill/>
        </p:grpSpPr>
        <p:sp>
          <p:nvSpPr>
            <p:cNvPr id="9" name="Rectangle 8"/>
            <p:cNvSpPr/>
            <p:nvPr/>
          </p:nvSpPr>
          <p:spPr>
            <a:xfrm>
              <a:off x="2954215" y="4484929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167C64"/>
                  </a:solidFill>
                </a:rPr>
                <a:t>Data Architecture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954215" y="4484929"/>
              <a:ext cx="0" cy="703384"/>
            </a:xfrm>
            <a:prstGeom prst="line">
              <a:avLst/>
            </a:prstGeom>
            <a:grpFill/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1251881" y="2449044"/>
            <a:ext cx="10082377" cy="2984561"/>
            <a:chOff x="1290916" y="2243494"/>
            <a:chExt cx="8944533" cy="2984561"/>
          </a:xfrm>
        </p:grpSpPr>
        <p:sp>
          <p:nvSpPr>
            <p:cNvPr id="22" name="Rounded Rectangle 21"/>
            <p:cNvSpPr/>
            <p:nvPr/>
          </p:nvSpPr>
          <p:spPr>
            <a:xfrm>
              <a:off x="3479711" y="4609489"/>
              <a:ext cx="6746349" cy="618566"/>
            </a:xfrm>
            <a:prstGeom prst="roundRect">
              <a:avLst/>
            </a:prstGeom>
            <a:solidFill>
              <a:srgbClr val="F5F5F5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2713">
                <a:lnSpc>
                  <a:spcPct val="150000"/>
                </a:lnSpc>
              </a:pPr>
              <a:r>
                <a:rPr lang="en-US" sz="1800" dirty="0" err="1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XGBoost</a:t>
              </a:r>
              <a:r>
                <a:rPr lang="en-US" sz="1800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optimized noise detection for robust modeling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90916" y="2243494"/>
              <a:ext cx="2156025" cy="545791"/>
            </a:xfrm>
            <a:prstGeom prst="roundRect">
              <a:avLst/>
            </a:prstGeom>
            <a:solidFill>
              <a:srgbClr val="0579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20650" lvl="2"/>
              <a:r>
                <a:rPr lang="en-US" sz="24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Category</a:t>
              </a:r>
              <a:endParaRPr lang="en-US" sz="24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58131" y="2251196"/>
              <a:ext cx="6777318" cy="545791"/>
            </a:xfrm>
            <a:prstGeom prst="roundRect">
              <a:avLst/>
            </a:prstGeom>
            <a:solidFill>
              <a:srgbClr val="0579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6213" lvl="1"/>
              <a:r>
                <a:rPr lang="en-US" sz="24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Description</a:t>
              </a:r>
              <a:endParaRPr lang="en-US" sz="24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290918" y="2796987"/>
              <a:ext cx="2156024" cy="618566"/>
            </a:xfrm>
            <a:prstGeom prst="rect">
              <a:avLst/>
            </a:prstGeom>
            <a:solidFill>
              <a:srgbClr val="ECF5E7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Dataset</a:t>
              </a:r>
              <a:endParaRPr lang="en-US" sz="20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90918" y="3416220"/>
              <a:ext cx="2156024" cy="618566"/>
            </a:xfrm>
            <a:prstGeom prst="rect">
              <a:avLst/>
            </a:prstGeom>
            <a:solidFill>
              <a:srgbClr val="F5F5F5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4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Features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297641" y="4594643"/>
              <a:ext cx="2149301" cy="618566"/>
            </a:xfrm>
            <a:prstGeom prst="roundRect">
              <a:avLst/>
            </a:prstGeom>
            <a:solidFill>
              <a:srgbClr val="F5F5F5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lvl="4">
                <a:lnSpc>
                  <a:spcPct val="150000"/>
                </a:lnSpc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Advanced Tech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95401" y="4037544"/>
              <a:ext cx="2151540" cy="618566"/>
            </a:xfrm>
            <a:prstGeom prst="rect">
              <a:avLst/>
            </a:prstGeom>
            <a:solidFill>
              <a:srgbClr val="ECF5E7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4"/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Preprocessing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61451" y="2796381"/>
              <a:ext cx="6765282" cy="618566"/>
            </a:xfrm>
            <a:prstGeom prst="rect">
              <a:avLst/>
            </a:prstGeom>
            <a:solidFill>
              <a:srgbClr val="ECF5E7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4"/>
              <a:r>
                <a:rPr lang="en-US" sz="2000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Crop_yield.csv (10.000+Records. 9 Features)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464929" y="4052203"/>
              <a:ext cx="6753176" cy="597041"/>
            </a:xfrm>
            <a:prstGeom prst="rect">
              <a:avLst/>
            </a:prstGeom>
            <a:solidFill>
              <a:srgbClr val="ECF5E7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6213">
                <a:lnSpc>
                  <a:spcPct val="150000"/>
                </a:lnSpc>
              </a:pPr>
              <a:r>
                <a:rPr lang="en-US" sz="1800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Label Encoding, StandardScaler for normalization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471764" y="3426326"/>
              <a:ext cx="6746349" cy="618566"/>
            </a:xfrm>
            <a:prstGeom prst="rect">
              <a:avLst/>
            </a:prstGeom>
            <a:solidFill>
              <a:srgbClr val="F5F5F5"/>
            </a:solidFill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4625" lvl="4"/>
              <a:r>
                <a:rPr lang="en-US" sz="2000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Region, Soil Type, Weather, Temp, Rainfall, Fertilizer, Irrigation, Days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764635" y="1675821"/>
            <a:ext cx="6213679" cy="598356"/>
            <a:chOff x="2937482" y="5188313"/>
            <a:chExt cx="3158518" cy="729105"/>
          </a:xfrm>
          <a:noFill/>
        </p:grpSpPr>
        <p:sp>
          <p:nvSpPr>
            <p:cNvPr id="7" name="Rectangle 6"/>
            <p:cNvSpPr/>
            <p:nvPr/>
          </p:nvSpPr>
          <p:spPr>
            <a:xfrm>
              <a:off x="2954215" y="5188313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Technology Ecosystem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937482" y="5214035"/>
              <a:ext cx="0" cy="703383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3" name="Rounded Rectangle 12"/>
          <p:cNvSpPr/>
          <p:nvPr/>
        </p:nvSpPr>
        <p:spPr>
          <a:xfrm>
            <a:off x="749595" y="2981325"/>
            <a:ext cx="3384255" cy="2409825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Core Stack</a:t>
            </a:r>
          </a:p>
          <a:p>
            <a:pPr marL="114300" lvl="1"/>
            <a:endParaRPr lang="en-US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Python, JavaScript, </a:t>
            </a: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HTML5, CSS3.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0742" y="2860691"/>
            <a:ext cx="3384255" cy="2571567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ML Frameworks</a:t>
            </a:r>
          </a:p>
          <a:p>
            <a:pPr marL="114300" lvl="1"/>
            <a:endParaRPr lang="en-US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TensorFlow, Scikit-learn, XGBoost, Pandas, NumPy.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1889" y="2831512"/>
            <a:ext cx="3384255" cy="2571567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0B05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r>
              <a:rPr lang="en-US" sz="2400" b="1" dirty="0">
                <a:solidFill>
                  <a:srgbClr val="336EA8"/>
                </a:solidFill>
              </a:rPr>
              <a:t>Web Engine</a:t>
            </a:r>
          </a:p>
          <a:p>
            <a:pPr marL="114300" lvl="1"/>
            <a:endParaRPr lang="en-US" dirty="0">
              <a:solidFill>
                <a:schemeClr val="tx1"/>
              </a:solidFill>
            </a:endParaRPr>
          </a:p>
          <a:p>
            <a:pPr marL="168275" lvl="1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Flask (Backend), JobLib (Model Persistence).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40668D-7AF3-4A8D-BF03-F1C45BD40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76" y="3134047"/>
            <a:ext cx="503199" cy="396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0893AC-8AC6-46A6-A84E-FE2082C40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147" y="3048322"/>
            <a:ext cx="352827" cy="396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F30AE0-4348-4AB9-BE73-F96FE03F1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2002" y="3128777"/>
            <a:ext cx="459511" cy="3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9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663215" y="276864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6663215" y="2768644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71500" lvl="1" indent="-457200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Production Status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302941" y="2634832"/>
            <a:ext cx="5874834" cy="2888181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ctr">
              <a:buNone/>
            </a:pPr>
            <a:r>
              <a:rPr lang="en-US" sz="11500" b="1" dirty="0">
                <a:solidFill>
                  <a:srgbClr val="D8B01A"/>
                </a:solidFill>
              </a:rPr>
              <a:t>94.27%</a:t>
            </a:r>
          </a:p>
          <a:p>
            <a:pPr marL="0" lvl="1" indent="0" algn="ctr">
              <a:buNone/>
            </a:pPr>
            <a:r>
              <a:rPr lang="en-US" b="1" dirty="0">
                <a:solidFill>
                  <a:srgbClr val="0FAB7C"/>
                </a:solidFill>
              </a:rPr>
              <a:t>R</a:t>
            </a:r>
            <a:r>
              <a:rPr lang="en-US" b="1" baseline="30000" dirty="0">
                <a:solidFill>
                  <a:srgbClr val="0FAB7C"/>
                </a:solidFill>
              </a:rPr>
              <a:t>2</a:t>
            </a:r>
            <a:r>
              <a:rPr lang="en-US" b="1" dirty="0">
                <a:solidFill>
                  <a:srgbClr val="0FAB7C"/>
                </a:solidFill>
              </a:rPr>
              <a:t> Accuracy Score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04062" y="1607645"/>
            <a:ext cx="6180761" cy="835463"/>
            <a:chOff x="2954215" y="4484929"/>
            <a:chExt cx="3141785" cy="703384"/>
          </a:xfrm>
          <a:noFill/>
        </p:grpSpPr>
        <p:sp>
          <p:nvSpPr>
            <p:cNvPr id="14" name="Rectangle 13"/>
            <p:cNvSpPr/>
            <p:nvPr/>
          </p:nvSpPr>
          <p:spPr>
            <a:xfrm>
              <a:off x="2954215" y="4484929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167C64"/>
                  </a:solidFill>
                </a:rPr>
                <a:t>Deployment &amp; Validation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2954215" y="4484929"/>
              <a:ext cx="0" cy="703384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Google Shape;170;p7"/>
          <p:cNvSpPr txBox="1">
            <a:spLocks/>
          </p:cNvSpPr>
          <p:nvPr/>
        </p:nvSpPr>
        <p:spPr>
          <a:xfrm>
            <a:off x="6683649" y="3571630"/>
            <a:ext cx="4110298" cy="1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1">
              <a:buSzPct val="100000"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Production ready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Testing: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Unit, Integration, UAT Passed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RMSE: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0.4001 (Minimal Error)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764635" y="1675821"/>
            <a:ext cx="6213679" cy="598356"/>
            <a:chOff x="2937482" y="5188313"/>
            <a:chExt cx="3158518" cy="729105"/>
          </a:xfrm>
          <a:noFill/>
        </p:grpSpPr>
        <p:sp>
          <p:nvSpPr>
            <p:cNvPr id="7" name="Rectangle 6"/>
            <p:cNvSpPr/>
            <p:nvPr/>
          </p:nvSpPr>
          <p:spPr>
            <a:xfrm>
              <a:off x="2954215" y="5188313"/>
              <a:ext cx="3141785" cy="703384"/>
            </a:xfrm>
            <a:prstGeom prst="rect">
              <a:avLst/>
            </a:prstGeom>
            <a:grp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/>
              <a:r>
                <a:rPr lang="en-US" sz="3200" b="1" dirty="0">
                  <a:solidFill>
                    <a:srgbClr val="057954"/>
                  </a:solidFill>
                </a:rPr>
                <a:t>Project Output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937482" y="5214035"/>
              <a:ext cx="0" cy="703383"/>
            </a:xfrm>
            <a:prstGeom prst="line">
              <a:avLst/>
            </a:prstGeom>
            <a:grpFill/>
            <a:ln w="57150">
              <a:solidFill>
                <a:srgbClr val="D8B01A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0" name="Rounded Rectangle 9"/>
          <p:cNvSpPr/>
          <p:nvPr/>
        </p:nvSpPr>
        <p:spPr>
          <a:xfrm>
            <a:off x="6459247" y="2701476"/>
            <a:ext cx="5057982" cy="2677348"/>
          </a:xfrm>
          <a:prstGeom prst="roundRect">
            <a:avLst>
              <a:gd name="adj" fmla="val 6141"/>
            </a:avLst>
          </a:prstGeom>
          <a:solidFill>
            <a:srgbClr val="0FAB7C"/>
          </a:solidFill>
          <a:ln>
            <a:noFill/>
          </a:ln>
          <a:effectLst>
            <a:outerShdw blurRad="25400" dist="38100" dir="5700000" algn="tl" rotWithShape="0">
              <a:srgbClr val="B6AF2A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r>
              <a:rPr lang="en-US" sz="2800" b="1" dirty="0">
                <a:solidFill>
                  <a:srgbClr val="D8B01A"/>
                </a:solidFill>
              </a:rPr>
              <a:t>Final Product</a:t>
            </a:r>
          </a:p>
          <a:p>
            <a:pPr marL="114300" lvl="1"/>
            <a:endParaRPr lang="en-US" dirty="0">
              <a:solidFill>
                <a:schemeClr val="bg1"/>
              </a:solidFill>
            </a:endParaRPr>
          </a:p>
          <a:p>
            <a:pPr marL="168275" lvl="1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A fully integrated end-to-end AI system capable of transforming raw environmental data into actionable agricultural intelligence.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635" y="2841780"/>
            <a:ext cx="5205859" cy="2484826"/>
          </a:xfrm>
          <a:prstGeom prst="roundRect">
            <a:avLst>
              <a:gd name="adj" fmla="val 6141"/>
            </a:avLst>
          </a:prstGeom>
          <a:solidFill>
            <a:schemeClr val="bg1"/>
          </a:solidFill>
          <a:ln>
            <a:noFill/>
          </a:ln>
          <a:effectLst>
            <a:outerShdw blurRad="25400" dist="38100" dir="5700000" algn="tl" rotWithShape="0">
              <a:srgbClr val="0FAB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/>
            <a:r>
              <a:rPr lang="en-US" sz="2800" b="1" dirty="0">
                <a:solidFill>
                  <a:srgbClr val="336EA8"/>
                </a:solidFill>
              </a:rPr>
              <a:t>Documentation &amp; Code</a:t>
            </a:r>
          </a:p>
          <a:p>
            <a:pPr marL="114300" lvl="1"/>
            <a:endParaRPr lang="en-US" dirty="0">
              <a:solidFill>
                <a:schemeClr val="tx1"/>
              </a:solidFill>
            </a:endParaRPr>
          </a:p>
          <a:p>
            <a:pPr marL="168275" lvl="1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Technical Report &amp; User Manual.</a:t>
            </a:r>
          </a:p>
          <a:p>
            <a:pPr marL="168275" lvl="1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Model Registry (models/) &amp; Notebooks.</a:t>
            </a:r>
          </a:p>
          <a:p>
            <a:pPr marL="168275" lvl="1"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Flask Web Application (app.py)</a:t>
            </a:r>
          </a:p>
          <a:p>
            <a:pPr marL="168275" lvl="1"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Timeline: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5 milestones are completed</a:t>
            </a:r>
          </a:p>
        </p:txBody>
      </p:sp>
    </p:spTree>
    <p:extLst>
      <p:ext uri="{BB962C8B-B14F-4D97-AF65-F5344CB8AC3E}">
        <p14:creationId xmlns:p14="http://schemas.microsoft.com/office/powerpoint/2010/main" val="596980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1933626" y="1833418"/>
            <a:ext cx="4417758" cy="988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222250" lvl="1" indent="-107950"/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600" b="1" dirty="0">
                <a:solidFill>
                  <a:srgbClr val="0FAB7C"/>
                </a:solidFill>
              </a:rPr>
              <a:t>Shahd Mostafa Farouk</a:t>
            </a:r>
            <a:br>
              <a:rPr lang="en-US" sz="2800" b="1" dirty="0">
                <a:solidFill>
                  <a:srgbClr val="0070C0"/>
                </a:solidFill>
              </a:rPr>
            </a:br>
            <a:br>
              <a:rPr lang="en-US" sz="100" dirty="0">
                <a:solidFill>
                  <a:schemeClr val="tx1"/>
                </a:solidFill>
              </a:rPr>
            </a:br>
            <a:r>
              <a:rPr lang="en-US" sz="100" dirty="0">
                <a:solidFill>
                  <a:schemeClr val="tx1"/>
                </a:solidFill>
              </a:rPr>
              <a:t>         </a:t>
            </a:r>
            <a:r>
              <a:rPr lang="en-US" sz="1700" dirty="0">
                <a:solidFill>
                  <a:srgbClr val="336EA8"/>
                </a:solidFill>
              </a:rPr>
              <a:t>Project lead &amp; AI Architect</a:t>
            </a:r>
            <a:br>
              <a:rPr lang="en-US" dirty="0">
                <a:solidFill>
                  <a:srgbClr val="336EA8"/>
                </a:solidFill>
              </a:rPr>
            </a:br>
            <a:r>
              <a:rPr lang="en-US" dirty="0">
                <a:solidFill>
                  <a:srgbClr val="336EA8"/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ID: 21120155</a:t>
            </a:r>
            <a:endParaRPr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1F1AEC-48E9-F4E8-B40E-4B2E0BCA40B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4;p8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338" y="3554224"/>
            <a:ext cx="1091075" cy="1034149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0" name="Google Shape;184;p8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891" y="1786247"/>
            <a:ext cx="1078205" cy="1084322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1" name="Google Shape;184;p8"/>
          <p:cNvPicPr preferRelativeResize="0"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004" y="3568587"/>
            <a:ext cx="1000174" cy="1019786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9" name="Google Shape;180;p8"/>
          <p:cNvSpPr txBox="1">
            <a:spLocks/>
          </p:cNvSpPr>
          <p:nvPr/>
        </p:nvSpPr>
        <p:spPr>
          <a:xfrm>
            <a:off x="1879838" y="3626937"/>
            <a:ext cx="4417758" cy="988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2250" lvl="1" indent="-107950"/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FAB7C"/>
                </a:solidFill>
              </a:rPr>
              <a:t>Ebrahim Ashraf Ebrahim</a:t>
            </a:r>
            <a:br>
              <a:rPr lang="en-US" sz="2800" b="1" dirty="0">
                <a:solidFill>
                  <a:srgbClr val="0070C0"/>
                </a:solidFill>
              </a:rPr>
            </a:br>
            <a:br>
              <a:rPr lang="en-US" sz="100" dirty="0">
                <a:solidFill>
                  <a:schemeClr val="tx1"/>
                </a:solidFill>
              </a:rPr>
            </a:br>
            <a:r>
              <a:rPr lang="en-US" sz="100" dirty="0">
                <a:solidFill>
                  <a:schemeClr val="tx1"/>
                </a:solidFill>
              </a:rPr>
              <a:t>         </a:t>
            </a:r>
            <a:r>
              <a:rPr lang="en-US" sz="1500" dirty="0">
                <a:solidFill>
                  <a:srgbClr val="336EA8"/>
                </a:solidFill>
              </a:rPr>
              <a:t>Backend Developer</a:t>
            </a:r>
            <a:br>
              <a:rPr lang="en-US" dirty="0">
                <a:solidFill>
                  <a:srgbClr val="336EA8"/>
                </a:solidFill>
              </a:rPr>
            </a:br>
            <a:r>
              <a:rPr lang="en-US" dirty="0">
                <a:solidFill>
                  <a:srgbClr val="336EA8"/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ID:  21120317</a:t>
            </a:r>
          </a:p>
        </p:txBody>
      </p:sp>
      <p:sp>
        <p:nvSpPr>
          <p:cNvPr id="21" name="Google Shape;180;p8"/>
          <p:cNvSpPr txBox="1">
            <a:spLocks/>
          </p:cNvSpPr>
          <p:nvPr/>
        </p:nvSpPr>
        <p:spPr>
          <a:xfrm>
            <a:off x="7316346" y="3599399"/>
            <a:ext cx="4417758" cy="988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2250" lvl="1" indent="-107950"/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FAB7C"/>
                </a:solidFill>
              </a:rPr>
              <a:t>Eman Saber Ibrahim</a:t>
            </a:r>
            <a:br>
              <a:rPr lang="en-US" sz="2400" b="1" dirty="0">
                <a:solidFill>
                  <a:srgbClr val="0070C0"/>
                </a:solidFill>
              </a:rPr>
            </a:br>
            <a:br>
              <a:rPr lang="en-US" sz="100" dirty="0">
                <a:solidFill>
                  <a:schemeClr val="tx1"/>
                </a:solidFill>
              </a:rPr>
            </a:br>
            <a:r>
              <a:rPr lang="en-US" sz="100" dirty="0">
                <a:solidFill>
                  <a:schemeClr val="tx1"/>
                </a:solidFill>
              </a:rPr>
              <a:t>         </a:t>
            </a:r>
            <a:r>
              <a:rPr lang="en-US" sz="1500" dirty="0">
                <a:solidFill>
                  <a:srgbClr val="336EA8"/>
                </a:solidFill>
              </a:rPr>
              <a:t>QA Specialist</a:t>
            </a:r>
            <a:br>
              <a:rPr lang="en-US" dirty="0">
                <a:solidFill>
                  <a:srgbClr val="336EA8"/>
                </a:solidFill>
              </a:rPr>
            </a:br>
            <a:r>
              <a:rPr lang="en-US" dirty="0">
                <a:solidFill>
                  <a:srgbClr val="336EA8"/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ID: 21125954</a:t>
            </a:r>
          </a:p>
        </p:txBody>
      </p:sp>
      <p:sp>
        <p:nvSpPr>
          <p:cNvPr id="22" name="Google Shape;170;p7"/>
          <p:cNvSpPr txBox="1">
            <a:spLocks/>
          </p:cNvSpPr>
          <p:nvPr/>
        </p:nvSpPr>
        <p:spPr>
          <a:xfrm>
            <a:off x="3667022" y="5620573"/>
            <a:ext cx="4699694" cy="56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1">
              <a:buSzPct val="100000"/>
            </a:pPr>
            <a:r>
              <a:rPr lang="en-US" sz="1500" i="1" dirty="0">
                <a:solidFill>
                  <a:schemeClr val="bg1">
                    <a:lumMod val="50000"/>
                  </a:schemeClr>
                </a:solidFill>
              </a:rPr>
              <a:t>Powered by Digital Egypt Pioneers Initiative (DEPI)</a:t>
            </a:r>
            <a:endParaRPr lang="en-US" sz="15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Google Shape;180;p8"/>
          <p:cNvSpPr txBox="1">
            <a:spLocks/>
          </p:cNvSpPr>
          <p:nvPr/>
        </p:nvSpPr>
        <p:spPr>
          <a:xfrm>
            <a:off x="7280885" y="1828127"/>
            <a:ext cx="4417758" cy="988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2250" lvl="1" indent="-107950"/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600" b="1" dirty="0">
                <a:solidFill>
                  <a:srgbClr val="0FAB7C"/>
                </a:solidFill>
              </a:rPr>
              <a:t>Mohamed Ahmed Mohamed</a:t>
            </a:r>
            <a:br>
              <a:rPr lang="en-US" sz="2800" b="1" dirty="0">
                <a:solidFill>
                  <a:srgbClr val="0070C0"/>
                </a:solidFill>
              </a:rPr>
            </a:br>
            <a:br>
              <a:rPr lang="en-US" sz="100" dirty="0">
                <a:solidFill>
                  <a:schemeClr val="tx1"/>
                </a:solidFill>
              </a:rPr>
            </a:br>
            <a:r>
              <a:rPr lang="en-US" sz="100" dirty="0">
                <a:solidFill>
                  <a:schemeClr val="tx1"/>
                </a:solidFill>
              </a:rPr>
              <a:t>         </a:t>
            </a:r>
            <a:r>
              <a:rPr lang="en-US" sz="1700" dirty="0">
                <a:solidFill>
                  <a:srgbClr val="336EA8"/>
                </a:solidFill>
              </a:rPr>
              <a:t>Data Systems Engineer</a:t>
            </a:r>
            <a:br>
              <a:rPr lang="en-US" dirty="0">
                <a:solidFill>
                  <a:srgbClr val="336EA8"/>
                </a:solidFill>
              </a:rPr>
            </a:br>
            <a:r>
              <a:rPr lang="en-US" dirty="0">
                <a:solidFill>
                  <a:srgbClr val="336EA8"/>
                </a:solidFill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ID: 21088856</a:t>
            </a:r>
          </a:p>
        </p:txBody>
      </p:sp>
      <p:pic>
        <p:nvPicPr>
          <p:cNvPr id="17" name="Google Shape;184;p8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15" y="1786247"/>
            <a:ext cx="1021334" cy="1084323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9098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7/09/26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ounded Rectangle 16"/>
          <p:cNvSpPr/>
          <p:nvPr/>
        </p:nvSpPr>
        <p:spPr>
          <a:xfrm>
            <a:off x="2275116" y="2339788"/>
            <a:ext cx="7282993" cy="2359084"/>
          </a:xfrm>
          <a:prstGeom prst="roundRect">
            <a:avLst>
              <a:gd name="adj" fmla="val 6141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lvl="1" algn="ctr"/>
            <a:r>
              <a:rPr lang="en-US" sz="8000" b="1" dirty="0">
                <a:solidFill>
                  <a:srgbClr val="D8B01A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  <a:p>
            <a:pPr marL="114300" lvl="1" algn="ctr"/>
            <a:r>
              <a:rPr lang="en-US" sz="2600" dirty="0">
                <a:solidFill>
                  <a:srgbClr val="336E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Future-Proofing Agriculture Through AI</a:t>
            </a:r>
          </a:p>
        </p:txBody>
      </p:sp>
    </p:spTree>
    <p:extLst>
      <p:ext uri="{BB962C8B-B14F-4D97-AF65-F5344CB8AC3E}">
        <p14:creationId xmlns:p14="http://schemas.microsoft.com/office/powerpoint/2010/main" val="21766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24459905</TotalTime>
  <Words>973</Words>
  <Application>Microsoft Office PowerPoint</Application>
  <PresentationFormat>Widescreen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Aharoni</vt:lpstr>
      <vt:lpstr>Arial</vt:lpstr>
      <vt:lpstr>Open Sans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SafeGuard Ag</vt:lpstr>
      <vt:lpstr>PowerPoint Presentation</vt:lpstr>
      <vt:lpstr>Seamless Experience  Fill Form: Input environmental data (Soil, Weather, etc.).  Predict: AI Model processes inputs in real-time.  View Result: Get immediate yield prediction scores.   Designed for high usability and clean data visualization across devices.</vt:lpstr>
      <vt:lpstr>Primary User Farmers, Agribusinesses, and Government Consultants focused on food security.  Live Monitoring Performance tracking and drift detection to maintain model reliability over time.  Web Interface User-friendly Flask-based dashboard for instant result visualization and input forms.</vt:lpstr>
      <vt:lpstr>PowerPoint Presentation</vt:lpstr>
      <vt:lpstr>PowerPoint Presentation</vt:lpstr>
      <vt:lpstr>PowerPoint Presentation</vt:lpstr>
      <vt:lpstr>Production Status</vt:lpstr>
      <vt:lpstr>PowerPoint Presentation</vt:lpstr>
      <vt:lpstr> Shahd Mostafa Farouk           Project lead &amp; AI Architect  ID: 21120155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Eng.Shahd Mostafa</cp:lastModifiedBy>
  <cp:revision>208</cp:revision>
  <dcterms:created xsi:type="dcterms:W3CDTF">2024-03-14T10:03:54Z</dcterms:created>
  <dcterms:modified xsi:type="dcterms:W3CDTF">2026-07-03T17:46:38Z</dcterms:modified>
</cp:coreProperties>
</file>